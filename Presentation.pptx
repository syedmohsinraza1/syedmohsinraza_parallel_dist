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3B6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3B66"/>
                </a:solidFill>
                <a:latin typeface="Arial"/>
              </a:rPr>
              <a:t>Speedup Comparison: Ideal vs Amdahl vs INDRAS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Amdahl Speedup</c:v>
                </c:pt>
              </c:strCache>
            </c:strRef>
          </c:tx>
          <c:spPr>
            <a:solidFill>
              <a:srgbClr val="1B7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P=1</c:v>
                  </c:pt>
                  <c:pt idx="1">
                    <c:v>P=2</c:v>
                  </c:pt>
                  <c:pt idx="2">
                    <c:v>P=4</c:v>
                  </c:pt>
                  <c:pt idx="3">
                    <c:v>P=8</c:v>
                  </c:pt>
                  <c:pt idx="4">
                    <c:v>P=16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1.6</c:v>
                </c:pt>
                <c:pt idx="2">
                  <c:v>2.29</c:v>
                </c:pt>
                <c:pt idx="3">
                  <c:v>2.91</c:v>
                </c:pt>
                <c:pt idx="4">
                  <c:v>3.37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Speedup</c:v>
                </c:pt>
              </c:strCache>
            </c:strRef>
          </c:tx>
          <c:spPr>
            <a:solidFill>
              <a:srgbClr val="C0C0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P=1</c:v>
                  </c:pt>
                  <c:pt idx="1">
                    <c:v>P=2</c:v>
                  </c:pt>
                  <c:pt idx="2">
                    <c:v>P=4</c:v>
                  </c:pt>
                  <c:pt idx="3">
                    <c:v>P=8</c:v>
                  </c:pt>
                  <c:pt idx="4">
                    <c:v>P=16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INDRAS Actual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P=1</c:v>
                  </c:pt>
                  <c:pt idx="1">
                    <c:v>P=2</c:v>
                  </c:pt>
                  <c:pt idx="2">
                    <c:v>P=4</c:v>
                  </c:pt>
                  <c:pt idx="3">
                    <c:v>P=8</c:v>
                  </c:pt>
                  <c:pt idx="4">
                    <c:v>P=16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1.8</c:v>
                </c:pt>
                <c:pt idx="2">
                  <c:v>3.2</c:v>
                </c:pt>
                <c:pt idx="3">
                  <c:v>5</c:v>
                </c:pt>
                <c:pt idx="4">
                  <c:v>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B7A9E">
              <a:alpha val="25000"/>
            </a:srgbClr>
          </a:solidFill>
          <a:ln w="12700">
            <a:solidFill>
              <a:srgbClr val="1B7A9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56C5D0">
              <a:alpha val="20000"/>
            </a:srgbClr>
          </a:solidFill>
          <a:ln w="12700">
            <a:solidFill>
              <a:srgbClr val="56C5D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1B7A9E">
              <a:alpha val="20000"/>
            </a:srgbClr>
          </a:solidFill>
          <a:ln w="12700">
            <a:solidFill>
              <a:srgbClr val="1B7A9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303520"/>
            <a:ext cx="12161520" cy="54864"/>
          </a:xfrm>
          <a:prstGeom prst="rect">
            <a:avLst/>
          </a:prstGeom>
          <a:solidFill>
            <a:srgbClr val="56C5D0"/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6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National Disaster Response &amp; Analytics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&amp; Distributed Computing Lab  |  Final Term Examination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3611880"/>
            <a:ext cx="39319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384048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B7A9E">
              <a:alpha val="70000"/>
            </a:srgbClr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84048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B7A9E">
              <a:alpha val="70000"/>
            </a:srgbClr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384048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B7A9E">
              <a:alpha val="70000"/>
            </a:srgbClr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6634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B7A9E">
              <a:alpha val="70000"/>
            </a:srgbClr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46634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B7A9E">
              <a:alpha val="70000"/>
            </a:srgbClr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Prevention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46634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B7A9E">
              <a:alpha val="70000"/>
            </a:srgbClr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6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103120" cy="182880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&amp; River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2103120" cy="182880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43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Activity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2103120" cy="182880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143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Urban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Spread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097280"/>
            <a:ext cx="2103120" cy="182880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143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Accidents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01200" y="1097280"/>
            <a:ext cx="2103120" cy="182880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0" y="1143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601200" y="1737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Events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108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5478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MILLIONS of events daily in real time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25196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187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emergencies &amp; prioritize by severity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89204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828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resources without duplication or deadlock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553212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468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load across multiple regions dynamically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5669280" cy="3657600"/>
          </a:xfrm>
          <a:prstGeom prst="rect">
            <a:avLst/>
          </a:prstGeom>
          <a:solidFill>
            <a:srgbClr val="0D3B66">
              <a:alpha val="8000"/>
            </a:srgbClr>
          </a:solidFill>
          <a:ln w="12700">
            <a:solidFill>
              <a:srgbClr val="1B7A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017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34290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Emergency Call Centers (28 threads)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8404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IoT Sensors (20 threads)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42519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Traffic Cameras (16 threads)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466344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Devices (3 threads)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50749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Weather Stations (10 threads)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54864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Media (2 threads)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58978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Hospital Databases (1 thread)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7A9E"/>
          </a:solidFill>
          <a:ln w="12700">
            <a:solidFill>
              <a:srgbClr val="1B7A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686800" cy="685800"/>
          </a:xfrm>
          <a:prstGeom prst="rect">
            <a:avLst/>
          </a:prstGeom>
          <a:solidFill>
            <a:srgbClr val="56C5D0">
              <a:alpha val="18000"/>
            </a:srgbClr>
          </a:solidFill>
          <a:ln w="12700">
            <a:solidFill>
              <a:srgbClr val="56C5D0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82880" cy="685800"/>
          </a:xfrm>
          <a:prstGeom prst="rect">
            <a:avLst/>
          </a:prstGeom>
          <a:solidFill>
            <a:srgbClr val="56C5D0"/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– Data Sources (Producers)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types | 80+ producer threads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691640"/>
            <a:ext cx="0" cy="13716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28800"/>
            <a:ext cx="8686800" cy="685800"/>
          </a:xfrm>
          <a:prstGeom prst="rect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28800"/>
            <a:ext cx="18288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– Bounded Event Queues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762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PriorityBlockingQueue | Cap: 10,000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514600"/>
            <a:ext cx="0" cy="13716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51760"/>
            <a:ext cx="8686800" cy="685800"/>
          </a:xfrm>
          <a:prstGeom prst="rect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51760"/>
            <a:ext cx="18288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– Thread Pool Processing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9992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64T | Classify 32T | Dispatch 16T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337560"/>
            <a:ext cx="0" cy="13716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74720"/>
            <a:ext cx="8686800" cy="685800"/>
          </a:xfrm>
          <a:prstGeom prst="rect">
            <a:avLst/>
          </a:prstGeom>
          <a:solidFill>
            <a:srgbClr val="E67E22">
              <a:alpha val="18000"/>
            </a:srgbClr>
          </a:solidFill>
          <a:ln w="12700">
            <a:solidFill>
              <a:srgbClr val="E67E22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74720"/>
            <a:ext cx="18288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20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– Regional Nodes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8221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| East | Central | West | South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4160520"/>
            <a:ext cx="0" cy="13716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97680"/>
            <a:ext cx="8686800" cy="685800"/>
          </a:xfrm>
          <a:prstGeom prst="rect">
            <a:avLst/>
          </a:prstGeom>
          <a:solidFill>
            <a:srgbClr val="8E44AD">
              <a:alpha val="18000"/>
            </a:srgbClr>
          </a:solidFill>
          <a:ln w="12700">
            <a:solidFill>
              <a:srgbClr val="8E44AD">
                <a:alpha val="8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97680"/>
            <a:ext cx="182880" cy="6858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 – Hadoop Analytics &amp; 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6451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| MapReduce | YARN | HBase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26880" y="1005840"/>
            <a:ext cx="2560320" cy="4114800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10515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64040" y="16916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AFAFA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6404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Registry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64040" y="2368296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AFAFA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64040" y="23682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464040" y="3044952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AFAFA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0" y="30449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 Log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464040" y="3721608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AFAFA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64040" y="37216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464040" y="4398264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AFAFA"/>
          </a:solidFill>
          <a:ln w="12700">
            <a:solidFill>
              <a:srgbClr val="C0392B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64040" y="439826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Counter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ArchitectureDiagram.png for full diagram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MANAGEMENT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228600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Thread-Per-Request (Avoided)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1000s of threads for millions of events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512 KB stack per thread → memory exhaustion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scheduler thrashing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7121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Context-switch overhead (1–10 μs each)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5669280" cy="228600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097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Thread Pool (Used in INDRAS)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thread count, unlimited task submissions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99339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Tasks queued as lightweight Runnable objects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432304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Threads reused – zero creation overhead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871216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I/O &amp; CPU pools sized independently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Sizing Formula: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11612880" cy="502920"/>
          </a:xfrm>
          <a:prstGeom prst="rect">
            <a:avLst/>
          </a:prstGeom>
          <a:solidFill>
            <a:srgbClr val="0D3B66">
              <a:alpha val="12000"/>
            </a:srgbClr>
          </a:solidFill>
          <a:ln w="12700">
            <a:solidFill>
              <a:srgbClr val="0D3B6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3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Optimal Threads (I/O-bound)  =  N_cpu × (1 + Wait_Time / Compute_Time)  →  8 × (1 + 3.0/0.5) = 56 ≈ 64 threads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2743200" cy="1188720"/>
          </a:xfrm>
          <a:prstGeom prst="rect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617720"/>
            <a:ext cx="27432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74320" y="5577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4617720"/>
            <a:ext cx="2743200" cy="1188720"/>
          </a:xfrm>
          <a:prstGeom prst="rect">
            <a:avLst/>
          </a:prstGeom>
          <a:solidFill>
            <a:srgbClr val="1B7A9E">
              <a:alpha val="18000"/>
            </a:srgbClr>
          </a:solidFill>
          <a:ln w="12700">
            <a:solidFill>
              <a:srgbClr val="1B7A9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4617720"/>
            <a:ext cx="2743200" cy="365760"/>
          </a:xfrm>
          <a:prstGeom prst="rect">
            <a:avLst/>
          </a:prstGeom>
          <a:solidFill>
            <a:srgbClr val="1B7A9E"/>
          </a:solidFill>
          <a:ln w="12700">
            <a:solidFill>
              <a:srgbClr val="1B7A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246120" y="5577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4617720"/>
            <a:ext cx="2743200" cy="1188720"/>
          </a:xfrm>
          <a:prstGeom prst="rect">
            <a:avLst/>
          </a:prstGeom>
          <a:solidFill>
            <a:srgbClr val="E67E22">
              <a:alpha val="18000"/>
            </a:srgbClr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4617720"/>
            <a:ext cx="27432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Pool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217920" y="5577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89720" y="4617720"/>
            <a:ext cx="2743200" cy="1188720"/>
          </a:xfrm>
          <a:prstGeom prst="rect">
            <a:avLst/>
          </a:prstGeom>
          <a:solidFill>
            <a:srgbClr val="8E44AD">
              <a:alpha val="18000"/>
            </a:srgbClr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89720" y="4617720"/>
            <a:ext cx="274320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9720" y="4617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Pool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8972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189720" y="5577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56C5D0"/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PRODUCER–CONSUMER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743200" cy="411480"/>
          </a:xfrm>
          <a:prstGeom prst="rect">
            <a:avLst/>
          </a:prstGeom>
          <a:solidFill>
            <a:srgbClr val="56C5D0"/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(7 types)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508760"/>
            <a:ext cx="2743200" cy="548640"/>
          </a:xfrm>
          <a:prstGeom prst="rect">
            <a:avLst/>
          </a:prstGeom>
          <a:solidFill>
            <a:srgbClr val="56C5D0">
              <a:alpha val="15000"/>
            </a:srgbClr>
          </a:solidFill>
          <a:ln w="12700">
            <a:solidFill>
              <a:srgbClr val="56C5D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Call Centers (28T)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1783080"/>
            <a:ext cx="822960" cy="0"/>
          </a:xfrm>
          <a:prstGeom prst="line">
            <a:avLst/>
          </a:prstGeom>
          <a:noFill/>
          <a:ln w="19050">
            <a:solidFill>
              <a:srgbClr val="56C5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176272"/>
            <a:ext cx="2743200" cy="548640"/>
          </a:xfrm>
          <a:prstGeom prst="rect">
            <a:avLst/>
          </a:prstGeom>
          <a:solidFill>
            <a:srgbClr val="56C5D0">
              <a:alpha val="15000"/>
            </a:srgbClr>
          </a:solidFill>
          <a:ln w="12700">
            <a:solidFill>
              <a:srgbClr val="56C5D0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762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IoT Sensors (20T)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2450592"/>
            <a:ext cx="822960" cy="0"/>
          </a:xfrm>
          <a:prstGeom prst="line">
            <a:avLst/>
          </a:prstGeom>
          <a:noFill/>
          <a:ln w="19050">
            <a:solidFill>
              <a:srgbClr val="56C5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843784"/>
            <a:ext cx="2743200" cy="548640"/>
          </a:xfrm>
          <a:prstGeom prst="rect">
            <a:avLst/>
          </a:prstGeom>
          <a:solidFill>
            <a:srgbClr val="56C5D0">
              <a:alpha val="15000"/>
            </a:srgbClr>
          </a:solidFill>
          <a:ln w="12700">
            <a:solidFill>
              <a:srgbClr val="56C5D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84378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Cameras (16T)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3118104"/>
            <a:ext cx="822960" cy="0"/>
          </a:xfrm>
          <a:prstGeom prst="line">
            <a:avLst/>
          </a:prstGeom>
          <a:noFill/>
          <a:ln w="19050">
            <a:solidFill>
              <a:srgbClr val="56C5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3511296"/>
            <a:ext cx="2743200" cy="548640"/>
          </a:xfrm>
          <a:prstGeom prst="rect">
            <a:avLst/>
          </a:prstGeom>
          <a:solidFill>
            <a:srgbClr val="56C5D0">
              <a:alpha val="15000"/>
            </a:srgbClr>
          </a:solidFill>
          <a:ln w="12700">
            <a:solidFill>
              <a:srgbClr val="56C5D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5112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(3T)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3785616"/>
            <a:ext cx="822960" cy="0"/>
          </a:xfrm>
          <a:prstGeom prst="line">
            <a:avLst/>
          </a:prstGeom>
          <a:noFill/>
          <a:ln w="19050">
            <a:solidFill>
              <a:srgbClr val="56C5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4178808"/>
            <a:ext cx="2743200" cy="548640"/>
          </a:xfrm>
          <a:prstGeom prst="rect">
            <a:avLst/>
          </a:prstGeom>
          <a:solidFill>
            <a:srgbClr val="56C5D0">
              <a:alpha val="15000"/>
            </a:srgbClr>
          </a:solidFill>
          <a:ln w="12700">
            <a:solidFill>
              <a:srgbClr val="56C5D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41788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 Weather (10T)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4453128"/>
            <a:ext cx="822960" cy="0"/>
          </a:xfrm>
          <a:prstGeom prst="line">
            <a:avLst/>
          </a:prstGeom>
          <a:noFill/>
          <a:ln w="19050">
            <a:solidFill>
              <a:srgbClr val="56C5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846320"/>
            <a:ext cx="2743200" cy="548640"/>
          </a:xfrm>
          <a:prstGeom prst="rect">
            <a:avLst/>
          </a:prstGeom>
          <a:solidFill>
            <a:srgbClr val="56C5D0">
              <a:alpha val="15000"/>
            </a:srgbClr>
          </a:solidFill>
          <a:ln w="12700">
            <a:solidFill>
              <a:srgbClr val="56C5D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846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Media (2T)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5120640"/>
            <a:ext cx="822960" cy="0"/>
          </a:xfrm>
          <a:prstGeom prst="line">
            <a:avLst/>
          </a:prstGeom>
          <a:noFill/>
          <a:ln w="19050">
            <a:solidFill>
              <a:srgbClr val="56C5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5513832"/>
            <a:ext cx="2743200" cy="548640"/>
          </a:xfrm>
          <a:prstGeom prst="rect">
            <a:avLst/>
          </a:prstGeom>
          <a:solidFill>
            <a:srgbClr val="56C5D0">
              <a:alpha val="15000"/>
            </a:srgbClr>
          </a:solidFill>
          <a:ln w="12700">
            <a:solidFill>
              <a:srgbClr val="56C5D0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55138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Hospitals (1T)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5788152"/>
            <a:ext cx="822960" cy="0"/>
          </a:xfrm>
          <a:prstGeom prst="line">
            <a:avLst/>
          </a:prstGeom>
          <a:noFill/>
          <a:ln w="19050">
            <a:solidFill>
              <a:srgbClr val="56C5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1554480"/>
            <a:ext cx="4297680" cy="4480560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31920" y="15544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SHARED BUFFER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69080" y="205740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1031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40680" y="21031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PriorityBlockingQueue&lt;Event&gt;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069080" y="2679192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27249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27249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events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69080" y="3300984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33467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33467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DESC, Time ASC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069080" y="3922776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39684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40680" y="3968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CallerRunsPolicy (throttle)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69080" y="4544568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60520" y="4590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45902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queue.take() — blocking wait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69080" y="516636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60520" y="52120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40680" y="5212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ReentrantLock (built-in)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03920" y="1005840"/>
            <a:ext cx="34747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(5 types)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03920" y="1508760"/>
            <a:ext cx="3474720" cy="64008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41080" y="1508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Classifier Pool (32T)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29600" y="1828800"/>
            <a:ext cx="27432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03920" y="2331720"/>
            <a:ext cx="3474720" cy="64008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41080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Dispatch Pool (16T)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229600" y="2651760"/>
            <a:ext cx="27432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03920" y="3154680"/>
            <a:ext cx="3474720" cy="64008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3154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Global Priority Consumer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229600" y="3474720"/>
            <a:ext cx="27432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03920" y="3977640"/>
            <a:ext cx="3474720" cy="64008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1080" y="3977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Hadoop Archiver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229600" y="4297680"/>
            <a:ext cx="27432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03920" y="4800600"/>
            <a:ext cx="3474720" cy="64008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41080" y="4800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Dashboard Publisher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229600" y="5120640"/>
            <a:ext cx="27432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3749040" cy="228600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37490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51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ReadWriteLock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Registry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readers;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exclusive writer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1051560"/>
            <a:ext cx="3749040" cy="228600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60520" y="1051560"/>
            <a:ext cx="37490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051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StampedLock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Availability 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2057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read → fallback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pessimistic if stamp fails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051560"/>
            <a:ext cx="3749040" cy="2286000"/>
          </a:xfrm>
          <a:prstGeom prst="rect">
            <a:avLst/>
          </a:prstGeom>
          <a:solidFill>
            <a:srgbClr val="1B7A9E">
              <a:alpha val="12000"/>
            </a:srgbClr>
          </a:solidFill>
          <a:ln w="12700">
            <a:solidFill>
              <a:srgbClr val="1B7A9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051560"/>
            <a:ext cx="3749040" cy="502920"/>
          </a:xfrm>
          <a:prstGeom prst="rect">
            <a:avLst/>
          </a:prstGeom>
          <a:solidFill>
            <a:srgbClr val="1B7A9E"/>
          </a:solidFill>
          <a:ln w="12700">
            <a:solidFill>
              <a:srgbClr val="1B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051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ReentrantLock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Scheduler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2057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thread can re-acquire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self-deadlock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611880"/>
            <a:ext cx="3749040" cy="228600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3611880"/>
            <a:ext cx="37490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3611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AtomicInteger / CAS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Counter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617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CAS instruction;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context switch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60520" y="3611880"/>
            <a:ext cx="3749040" cy="2286000"/>
          </a:xfrm>
          <a:prstGeom prst="rect">
            <a:avLst/>
          </a:prstGeom>
          <a:solidFill>
            <a:srgbClr val="8E44AD">
              <a:alpha val="12000"/>
            </a:srgbClr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60520" y="3611880"/>
            <a:ext cx="374904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611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ConcurrentHashMap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Event Set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51960" y="4617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16-segment locking;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threads write simultaneously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3611880"/>
            <a:ext cx="3749040" cy="2286000"/>
          </a:xfrm>
          <a:prstGeom prst="rect">
            <a:avLst/>
          </a:prstGeom>
          <a:solidFill>
            <a:srgbClr val="2E86AB">
              <a:alpha val="12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3611880"/>
            <a:ext cx="374904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3611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Lock-Free CAS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Event Log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617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Compare-And-Swap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ConcurrentLinkedDeque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&gt; Global Locking: ConcurrentHashMap uses 16 segments → 16× write parallelism vs. a single global lock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PREVENTION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Coffman Conditions Present: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90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4904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Exclusion: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4904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thread holds a lock at a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03704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03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037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and Wait: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2037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holds Lock A, waits for Lock 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916936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16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916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2916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cannot be forcibly taken away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630168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30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630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Wait: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A→B→A cycle: both threads block forever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1005840"/>
            <a:ext cx="6217920" cy="5303520"/>
          </a:xfrm>
          <a:prstGeom prst="rect">
            <a:avLst/>
          </a:prstGeom>
          <a:solidFill>
            <a:srgbClr val="27AE60">
              <a:alpha val="8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0515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Strategies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0" y="1554480"/>
            <a:ext cx="5943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627632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627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16276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Ordering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89320" y="20116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numeric IDs. ALL threads acquire locks in ascending ID order. Eliminates circular wait.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3108960"/>
            <a:ext cx="5943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0" y="3182112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182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318211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tryLock with Timeout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89320" y="3566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lock acquisition for 500ms. If timeout, release held locks, backoff, and retry. Prevents indefinite blocking.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4663440"/>
            <a:ext cx="5943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4736592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4736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473659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Hierarchy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89320" y="51206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→ Region → Resource → Unit. No thread may acquire a higher-level lock after a lower one.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749040" cy="5303520"/>
          </a:xfrm>
          <a:prstGeom prst="rect">
            <a:avLst/>
          </a:prstGeom>
          <a:solidFill>
            <a:srgbClr val="1B7A9E">
              <a:alpha val="8000"/>
            </a:srgbClr>
          </a:solidFill>
          <a:ln w="12700">
            <a:solidFill>
              <a:srgbClr val="1B7A9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749040" cy="548640"/>
          </a:xfrm>
          <a:prstGeom prst="rect">
            <a:avLst/>
          </a:prstGeom>
          <a:solidFill>
            <a:srgbClr val="1B7A9E"/>
          </a:solidFill>
          <a:ln w="12700">
            <a:solidFill>
              <a:srgbClr val="1B7A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Pre-determined at startup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runtime overhead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429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thread pool sizes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2976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Fails under unexpected bursts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51663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base pool sizing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005840"/>
            <a:ext cx="3749040" cy="5303520"/>
          </a:xfrm>
          <a:prstGeom prst="rect">
            <a:avLst/>
          </a:prstGeom>
          <a:solidFill>
            <a:srgbClr val="E67E22">
              <a:alpha val="8000"/>
            </a:srgbClr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005840"/>
            <a:ext cx="374904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005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1691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load monitoring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2560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 rebalancing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3429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disaster spikes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42976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 cost overhead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51663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regional rebalancing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005840"/>
            <a:ext cx="3749040" cy="530352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8160" y="1005840"/>
            <a:ext cx="374904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005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(INDRAS)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5320" y="1691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Static base sizing off-peak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2560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Dynamic work-stealing at runtime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34290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Idle threads steal from overloaded queues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5320" y="42976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of both approaches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5320" y="51663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Zero dropped events under surge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6035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INDRAS APPROACH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ACTIVITIES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612880" cy="1554480"/>
          </a:xfrm>
          <a:prstGeom prst="rect">
            <a:avLst/>
          </a:prstGeom>
          <a:solidFill>
            <a:srgbClr val="8E44AD">
              <a:alpha val="10000"/>
            </a:srgbClr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822960" cy="1554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822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1887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WordCount MapReduce on emergency_events.txt dataset. Identified top 5 words: emergency (12,847), flood (9,231), accident (8,654), medical (7,890), fire (6,543).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11612880" cy="155448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2E86A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822960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834640"/>
            <a:ext cx="822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Frequent Words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38328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WordCount → exported via getmerge → sorted with sort -k2 -rn → displayed top 10 words. Demonstrates distributed count-then-sort workflow.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617720"/>
            <a:ext cx="11612880" cy="1554480"/>
          </a:xfrm>
          <a:prstGeom prst="rect">
            <a:avLst/>
          </a:prstGeom>
          <a:solidFill>
            <a:srgbClr val="1B7A9E">
              <a:alpha val="10000"/>
            </a:srgbClr>
          </a:solidFill>
          <a:ln w="12700">
            <a:solidFill>
              <a:srgbClr val="1B7A9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4617720"/>
            <a:ext cx="822960" cy="1554480"/>
          </a:xfrm>
          <a:prstGeom prst="rect">
            <a:avLst/>
          </a:prstGeom>
          <a:solidFill>
            <a:srgbClr val="1B7A9E"/>
          </a:solidFill>
          <a:ln w="12700">
            <a:solidFill>
              <a:srgbClr val="1B7A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617720"/>
            <a:ext cx="822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7548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Dataset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15-template × 500 repetition dataset. Analysis reveals flood dominates in north/south; accidents peak at intersections; rescue ops correlate with flood+earthquake events.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63550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MapReduce: Map (parallel per block) → Shuffle/Sort (group by key) → Reduce (aggregate) = Distributed word counting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15600" y="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64592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40s → 8s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645920"/>
          </a:xfrm>
          <a:prstGeom prst="rect">
            <a:avLst/>
          </a:prstGeom>
          <a:solidFill>
            <a:srgbClr val="1B7A9E">
              <a:alpha val="12000"/>
            </a:srgbClr>
          </a:solidFill>
          <a:ln w="12700">
            <a:solidFill>
              <a:srgbClr val="1B7A9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743200" cy="365760"/>
          </a:xfrm>
          <a:prstGeom prst="rect">
            <a:avLst/>
          </a:prstGeom>
          <a:solidFill>
            <a:srgbClr val="1B7A9E"/>
          </a:solidFill>
          <a:ln w="12700">
            <a:solidFill>
              <a:srgbClr val="1B7A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46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/ Processors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164592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51560"/>
            <a:ext cx="274320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 Max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4.0×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179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sequential fraction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89720" y="1051560"/>
            <a:ext cx="2743200" cy="1645920"/>
          </a:xfrm>
          <a:prstGeom prst="rect">
            <a:avLst/>
          </a:prstGeom>
          <a:solidFill>
            <a:srgbClr val="8E44AD">
              <a:alpha val="12000"/>
            </a:srgbClr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9720" y="1051560"/>
            <a:ext cx="274320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P=8 Amdahl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2.91×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1897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limit (P=8)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83464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8229600" y="2834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ideal speedup is not achieved: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0" y="3310128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03920" y="32644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lock contention (15%)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229600" y="38770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03920" y="38313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scheduling &amp; preemption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229600" y="4443984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03920" y="4398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 overhead (1–10 μs)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29600" y="501091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03920" y="4965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Memory/cache-line false sharing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229600" y="557784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03920" y="55321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latency across nodes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229600" y="6144768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503920" y="6099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task distribution (skew)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B7A9E">
              <a:alpha val="20000"/>
            </a:srgbClr>
          </a:solidFill>
          <a:ln w="12700">
            <a:solidFill>
              <a:srgbClr val="1B7A9E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8E44AD">
              <a:alpha val="15000"/>
            </a:srgbClr>
          </a:solidFill>
          <a:ln w="12700">
            <a:solidFill>
              <a:srgbClr val="8E44A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0" y="1234440"/>
            <a:ext cx="3931920" cy="45720"/>
          </a:xfrm>
          <a:prstGeom prst="rect">
            <a:avLst/>
          </a:prstGeom>
          <a:solidFill>
            <a:srgbClr val="56C5D0"/>
          </a:solidFill>
          <a:ln w="12700">
            <a:solidFill>
              <a:srgbClr val="56C5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0" y="457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56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4864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6C5D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pooling provides 5× speedup over sequential processing while keeping resource use predictable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6C5D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03720" y="16002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with bounded queues prevents data loss, overflow and deadlock through natural backpressure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54864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6C5D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3200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synchronization (ReadWriteLock, StampedLock, CAS) enables high concurrency without global lock contention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54864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6C5D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32004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ordering and tryLock with timeout fully eliminate deadlock in the circular-wait scenario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54864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6C5D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4709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48006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shows the 25% sequential fraction caps speedup at 4×; reducing sequential code is key to scaling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663440"/>
            <a:ext cx="54864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6C5D0">
                <a:alpha val="40000"/>
              </a:srgbClr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4709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48006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MapReduce enables distributed retrospective analytics revealing flood hotspots, response trends, and resource needs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INDRAS — Parallel &amp; Distributed Computing Lab | Final Term Examination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2026-06-01T11:41:13Z</dcterms:created>
  <dcterms:modified xsi:type="dcterms:W3CDTF">2026-06-01T11:41:13Z</dcterms:modified>
</cp:coreProperties>
</file>