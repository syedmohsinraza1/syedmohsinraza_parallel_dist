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UCI</c:v>
                  </c:pt>
                  <c:pt idx="1">
                    <c:v>CHB-MIT</c:v>
                  </c:pt>
                  <c:pt idx="2">
                    <c:v>Bonn EEG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0.8161</c:v>
                </c:pt>
                <c:pt idx="1">
                  <c:v>0.9931</c:v>
                </c:pt>
                <c:pt idx="2">
                  <c:v>0.96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UCI</c:v>
                  </c:pt>
                  <c:pt idx="1">
                    <c:v>CHB-MIT</c:v>
                  </c:pt>
                  <c:pt idx="2">
                    <c:v>Bonn EEG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0.1557</c:v>
                </c:pt>
                <c:pt idx="1">
                  <c:v>0.6667</c:v>
                </c:pt>
                <c:pt idx="2">
                  <c:v>0.8947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UCI</c:v>
                  </c:pt>
                  <c:pt idx="1">
                    <c:v>CHB-MIT</c:v>
                  </c:pt>
                  <c:pt idx="2">
                    <c:v>Bonn EEG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0.4307</c:v>
                </c:pt>
                <c:pt idx="1">
                  <c:v>0.6131</c:v>
                </c:pt>
                <c:pt idx="2">
                  <c:v>0.9343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L1 Sparsity by Dataset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 Sparsity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UCI</c:v>
                  </c:pt>
                  <c:pt idx="1">
                    <c:v>CHB-MIT</c:v>
                  </c:pt>
                  <c:pt idx="2">
                    <c:v>Bonn EEG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21.91</c:v>
                </c:pt>
                <c:pt idx="1">
                  <c:v>89.57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FF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Features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UCI</c:v>
                  </c:pt>
                  <c:pt idx="1">
                    <c:v>CHB-MIT</c:v>
                  </c:pt>
                  <c:pt idx="2">
                    <c:v>Bonn EEG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</c:v>
                </c:pt>
                <c:pt idx="1">
                  <c:v>115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PCA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UCI</c:v>
                  </c:pt>
                  <c:pt idx="1">
                    <c:v>CHB-MIT</c:v>
                  </c:pt>
                  <c:pt idx="2">
                    <c:v>Bonn EEG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</c:v>
                </c:pt>
                <c:pt idx="1">
                  <c:v>35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EEG seizure prediction using classical ML across three datasets. Presenter: Syed Mohsin Raza.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Classical ML is effective, but dataset structure determines which techniques will work best. Future work should explore deep learning and real-time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BIOMEDICAL 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 Seizure Prediction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Logistic Regression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Mohsin Raza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Data Science  •  Institute of Management Sciences Peshawar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UCI Epileptic  •  CHB-MIT Clinical EEG  •  Bonn EEG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502920" cy="91440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1247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scope, and biomedical context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02920" cy="91440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1247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UCI, CHB-MIT, and Bonn EEG datasets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48840"/>
            <a:ext cx="502920" cy="91440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488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2219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Techniques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regularization, PCA, SMOTE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48840"/>
            <a:ext cx="502920" cy="91440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1488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2219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performance comparison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246120"/>
            <a:ext cx="502920" cy="91440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461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33192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Findings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on regularization, PCA &amp; imbalance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246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246120"/>
            <a:ext cx="502920" cy="91440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2461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33192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and real-time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Study Does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184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EEG seizure prediction using classical machine learning techniques.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32257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768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performance across three distinct EEG datasets.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98094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352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Logistic Regression as the baseline classifier.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63931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935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regularization, PCA, and SMOTE strategies.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170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 Areas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627632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166420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Feature Engineering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249424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228600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Analysis (L1, L2, ElasticNet)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871216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74920" y="29077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Dimensionality Reduction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493008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74920" y="352958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&amp; Class Weighting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4114800"/>
            <a:ext cx="3749040" cy="475488"/>
          </a:xfrm>
          <a:prstGeom prst="roundRect">
            <a:avLst>
              <a:gd name="adj" fmla="val 11538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415137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Generalization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1440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96012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9875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Epileptic Seizure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EEG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 tabular format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0040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154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seizure classification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regularization &amp; PCA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2968" y="91440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91440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96012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75888" y="9875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CHB-MIT Clinical EEG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55848" y="1920240"/>
            <a:ext cx="128016" cy="128016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EEG channels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55848" y="2560320"/>
            <a:ext cx="128016" cy="128016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7016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Hz sampling 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55848" y="3200400"/>
            <a:ext cx="128016" cy="128016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57016" y="3154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clinical recordings (EDF)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55848" y="3840480"/>
            <a:ext cx="128016" cy="128016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57016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feature engineering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25896" y="914400"/>
            <a:ext cx="2697480" cy="3840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25896" y="91440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35624" y="96012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28816" y="9875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 EEG Dataset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08776" y="192024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1874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compact statistical features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08776" y="25603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9944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EEG signals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08776" y="320040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9944" y="3154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seizure classification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08776" y="38404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9944" y="3794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seizure separability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Techniques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252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887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2252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(Lasso)  •  L2 (Ridge)  •  Elastic 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188720"/>
            <a:ext cx="2697480" cy="164592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1887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2252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64592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  •  Class Weighting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34440" y="310896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34440" y="31089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314553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35661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(Principal Component Analysis)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10896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1089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14553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5661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Curves  •  Cross-Dataset Comparison  •  Sparsity Analysis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Results: Cross-Dataset Performance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68680"/>
          <a:ext cx="530352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097280"/>
          <a:ext cx="2926080" cy="1828800"/>
        </p:xfrm>
        <a:graphic>
          <a:graphicData uri="http://schemas.openxmlformats.org/drawingml/2006/table">
            <a:tbl>
              <a:tblPr/>
              <a:tblGrid>
                <a:gridCol w="1005840"/>
                <a:gridCol w="640080"/>
                <a:gridCol w="594360"/>
                <a:gridCol w="685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CHB-MIT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 EEG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852160" y="3108960"/>
            <a:ext cx="2926080" cy="82296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 EEG achieved the best overall seizure separability across all metrics.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Regularization &amp; Feature Sparsity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09728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166360" y="1170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CHB-MIT: 89.57% Sparsity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66360" y="15087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redundant engineered EEG features. L1 eliminates nearly 90% of coefficients.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0" y="2395728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16636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UCI: 21.91% Sparsity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66360" y="280720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redundancy across 178 raw EEG time-series features.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0" y="3694176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66360" y="37673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 EEG: 0% Sparsity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66360" y="410565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compact, informative statistical features — all features matter.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PCA Dimensionality Reduction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0584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897880" y="10789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897880" y="13533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 reduction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06640" y="1371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→ 39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21945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97880" y="22677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CHB-MIT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97880" y="2542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 reduction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06640" y="25603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→ 35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33832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7880" y="34564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97880" y="3730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reduction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06640" y="3749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→ 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6072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compression was most effective on high-dimensional datasets (UCI, CHB-MIT). Bonn EEG required minimal reduction due to its already compact feature set.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Handling Class Imbalance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69748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4358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Epileptic Seizure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965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Improved F1-Score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24231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was effective at boosting seizure class recall, leading to a meaningful F1 improvement on this balanced baseline.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18872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188720"/>
            <a:ext cx="269748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24358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CHB-MIT Clinical EEG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82696" y="1965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Limited Improvement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82696" y="24231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severe class imbalance, SMOTE had limited effect, likely due to the complexity of real clinical EEG variability.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896" y="118872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1188720"/>
            <a:ext cx="2697480" cy="64008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124358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 EEG Dataset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35624" y="1965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Improved PR-AUC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35624" y="24231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improved the precision-recall tradeoff, boosting PR-AUC for the compact but informative Bonn feature space.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Directions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" y="1097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463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and LSTM architectures for raw EEG seizure prediction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3272" y="24231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Time-Frequency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3272" y="2788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and spectrogram-based EEG feature extraction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5760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33272" y="3749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33272" y="4114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seizure prediction pipelines for clinical 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22392" y="1097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22392" y="1463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and LIME interpretability for EEG biomarkers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33172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6517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22392" y="24231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Models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22392" y="2788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seizure predictors adapted per patient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65760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9776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22392" y="3749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22392" y="4114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Cross-patient and cross-dataset model generalization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2070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remains highly effective for EEG seizure prediction.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55448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2070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Quality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160020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feature representation strongly affects model generalization.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10896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614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Dataset-Specific Strategies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Regularization, PCA, and SMOTE effectiveness depends on dataset structure.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65176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310896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7614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is Critical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315468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ML pipelines require dataset-specific preprocessing for optimal results.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Mohsin Raza  •  Institute of Management Sciences Peshawar  •  Department of Data Science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 Seizure Prediction Using Logistic Regression</dc:title>
  <dc:subject>PptxGenJS Presentation</dc:subject>
  <dc:creator>Syed Mohsin Raza</dc:creator>
  <cp:lastModifiedBy>Syed Mohsin Raza</cp:lastModifiedBy>
  <cp:revision>1</cp:revision>
  <dcterms:created xsi:type="dcterms:W3CDTF">2026-06-10T12:20:54Z</dcterms:created>
  <dcterms:modified xsi:type="dcterms:W3CDTF">2026-06-10T12:20:54Z</dcterms:modified>
</cp:coreProperties>
</file>